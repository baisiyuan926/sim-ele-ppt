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372" r:id="rId4"/>
    <p:sldId id="353" r:id="rId5"/>
    <p:sldId id="373" r:id="rId6"/>
    <p:sldId id="380" r:id="rId7"/>
    <p:sldId id="381" r:id="rId9"/>
    <p:sldId id="382" r:id="rId10"/>
    <p:sldId id="379" r:id="rId11"/>
    <p:sldId id="378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 showGuides="1">
      <p:cViewPr varScale="1">
        <p:scale>
          <a:sx n="89" d="100"/>
          <a:sy n="89" d="100"/>
        </p:scale>
        <p:origin x="12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9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49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9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4C74EE-E9B7-4777-B60C-F7E5E26F85D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38600" y="9753600"/>
            <a:ext cx="3048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AA7A43B-5B9E-40F4-BA83-C90B73B005F2}" type="slidenum">
              <a:rPr lang="en-US" altLang="zh-CN" sz="1200" smtClean="0">
                <a:latin typeface="Tahoma" panose="020B0604030504040204" pitchFamily="34" charset="0"/>
              </a:rPr>
            </a:fld>
            <a:endParaRPr lang="en-US" altLang="zh-CN" sz="1200" smtClean="0">
              <a:latin typeface="Tahom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38600" y="9753600"/>
            <a:ext cx="3048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68F535A-ACF1-4C81-AD8A-68F62BEA11EB}" type="slidenum">
              <a:rPr lang="en-US" altLang="zh-CN" sz="1200" smtClean="0">
                <a:latin typeface="Tahoma" panose="020B0604030504040204" pitchFamily="34" charset="0"/>
              </a:rPr>
            </a:fld>
            <a:endParaRPr lang="en-US" altLang="zh-CN" sz="1200" smtClean="0">
              <a:latin typeface="Tahom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38600" y="9753600"/>
            <a:ext cx="3048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8D93FFC-817C-4B34-B37F-409CDD245EEC}" type="slidenum">
              <a:rPr lang="en-US" altLang="zh-CN" sz="1200" smtClean="0">
                <a:latin typeface="Tahoma" panose="020B0604030504040204" pitchFamily="34" charset="0"/>
              </a:rPr>
            </a:fld>
            <a:endParaRPr lang="en-US" altLang="zh-CN" sz="1200" smtClean="0">
              <a:latin typeface="Tahom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06E894-0AB8-4E64-BB67-BDD11184730E}" type="slidenum">
              <a:rPr lang="en-US" altLang="zh-CN" sz="1200" smtClean="0"/>
            </a:fld>
            <a:endParaRPr lang="en-US" altLang="zh-CN" sz="12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681038"/>
            <a:ext cx="4538663" cy="3403600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4357688"/>
            <a:ext cx="5080000" cy="4084637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357AD-2CE5-40DE-AE3E-169AED1B36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8F90-6D34-41D4-BD21-D05668348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D0839-A453-4524-BFC4-6C2A7BA069E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C3831-2235-477D-896C-CE828C0C1C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5F933-E486-4BC1-B3AB-D374B95798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4761DE-0905-49DF-81B7-7E91634097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55BA6-0171-4E1B-9715-599FE3D10C8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521B7-58AF-4E54-9DE6-603D34A398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9422A0-7960-4D75-BB73-6098378A6A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77311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FF303-0B2C-414A-95B7-62EDEC11BE0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73113"/>
            <a:ext cx="1943100" cy="53228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773113"/>
            <a:ext cx="5678487" cy="53228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62733-CFB6-4701-BA41-23B67080A8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blinds dir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448945" y="476250"/>
            <a:ext cx="803021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40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Lecture 10-2 EDA</a:t>
            </a:r>
            <a:r>
              <a:rPr lang="zh-CN" altLang="en-US" sz="40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软件工具简介</a:t>
            </a:r>
            <a:endParaRPr lang="zh-CN" altLang="en-US" sz="4000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</p:txBody>
      </p:sp>
      <p:sp>
        <p:nvSpPr>
          <p:cNvPr id="13315" name="Rectangle 7"/>
          <p:cNvSpPr>
            <a:spLocks noChangeArrowheads="1"/>
          </p:cNvSpPr>
          <p:nvPr/>
        </p:nvSpPr>
        <p:spPr bwMode="auto">
          <a:xfrm>
            <a:off x="179388" y="1301750"/>
            <a:ext cx="8569325" cy="526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j-lt"/>
                <a:ea typeface="华文中宋" panose="02010600040101010101" pitchFamily="2" charset="-122"/>
              </a:rPr>
              <a:t>适合于电子系统仿真与设计的</a:t>
            </a: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华文中宋" panose="02010600040101010101" pitchFamily="2" charset="-122"/>
              </a:rPr>
              <a:t>EDA</a:t>
            </a:r>
            <a:r>
              <a:rPr lang="zh-CN" altLang="en-US" sz="2800" b="1" dirty="0" smtClean="0">
                <a:solidFill>
                  <a:schemeClr val="tx2"/>
                </a:solidFill>
                <a:latin typeface="+mj-lt"/>
                <a:ea typeface="华文中宋" panose="02010600040101010101" pitchFamily="2" charset="-122"/>
              </a:rPr>
              <a:t>软件包括：</a:t>
            </a:r>
            <a:endParaRPr lang="zh-CN" altLang="en-US" sz="2800" b="1" dirty="0" smtClean="0">
              <a:solidFill>
                <a:schemeClr val="tx2"/>
              </a:solidFill>
              <a:latin typeface="+mj-lt"/>
              <a:ea typeface="华文中宋" panose="02010600040101010101" pitchFamily="2" charset="-122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电子电路（电路分析、模电、数电等）</a:t>
            </a: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仿真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类</a:t>
            </a:r>
            <a:endParaRPr lang="zh-CN" altLang="en-US" sz="2800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数字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电路与系统</a:t>
            </a: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设计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类：</a:t>
            </a:r>
            <a:endParaRPr lang="zh-CN" altLang="en-US" sz="2800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lvl="2" ea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2800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逻辑仿真器；</a:t>
            </a:r>
            <a:endParaRPr lang="en-US" altLang="zh-CN" sz="2800" b="1" dirty="0" smtClean="0">
              <a:solidFill>
                <a:srgbClr val="0033CC"/>
              </a:solidFill>
              <a:latin typeface="+mj-lt"/>
              <a:ea typeface="华文中宋" panose="02010600040101010101" pitchFamily="2" charset="-122"/>
            </a:endParaRPr>
          </a:p>
          <a:p>
            <a:pPr lvl="2" ea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2800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逻辑综合器；</a:t>
            </a:r>
            <a:endParaRPr lang="zh-CN" altLang="en-US" sz="2800" b="1" dirty="0" smtClean="0">
              <a:solidFill>
                <a:srgbClr val="0033CC"/>
              </a:solidFill>
              <a:latin typeface="+mj-lt"/>
              <a:ea typeface="华文中宋" panose="02010600040101010101" pitchFamily="2" charset="-122"/>
            </a:endParaRPr>
          </a:p>
          <a:p>
            <a:pPr lvl="2" eaLnBrk="1" hangingPunct="1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2800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IDE</a:t>
            </a:r>
            <a:r>
              <a:rPr lang="zh-CN" altLang="en-US" sz="2800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集成环境。</a:t>
            </a:r>
            <a:endParaRPr lang="en-US" altLang="zh-CN" sz="2800" b="1" dirty="0" smtClean="0">
              <a:solidFill>
                <a:srgbClr val="0033CC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电子系统</a:t>
            </a:r>
            <a:r>
              <a:rPr lang="en-US" altLang="zh-CN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PCB</a:t>
            </a: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版图设计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类</a:t>
            </a:r>
            <a:endParaRPr lang="en-US" altLang="zh-CN" sz="2800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79388" y="620713"/>
            <a:ext cx="8785225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 1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、电路仿真类（基于</a:t>
            </a:r>
            <a:r>
              <a:rPr lang="en-US" altLang="zh-CN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Spice</a:t>
            </a:r>
            <a:r>
              <a:rPr lang="zh-CN" altLang="en-US" sz="28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语言）</a:t>
            </a:r>
            <a:endParaRPr lang="zh-CN" altLang="en-US" sz="2800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  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Cadence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ORCAD </a:t>
            </a:r>
            <a:r>
              <a:rPr lang="en-US" altLang="zh-CN" b="1" dirty="0" err="1" smtClean="0">
                <a:solidFill>
                  <a:srgbClr val="C00000"/>
                </a:solidFill>
                <a:latin typeface="+mj-lt"/>
                <a:ea typeface="华文中宋" panose="02010600040101010101" pitchFamily="2" charset="-122"/>
              </a:rPr>
              <a:t>Pspice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；</a:t>
            </a:r>
            <a:endParaRPr lang="zh-CN" altLang="en-US" b="1" dirty="0" smtClean="0"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 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NI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latin typeface="+mn-lt"/>
                <a:ea typeface="华文中宋" panose="02010600040101010101" pitchFamily="2" charset="-122"/>
              </a:rPr>
              <a:t> </a:t>
            </a:r>
            <a:r>
              <a:rPr lang="en-US" altLang="zh-CN" b="1" dirty="0" smtClean="0">
                <a:latin typeface="+mn-lt"/>
              </a:rPr>
              <a:t>Emerson</a:t>
            </a:r>
            <a:r>
              <a:rPr lang="zh-CN" altLang="en-US" b="1" dirty="0" smtClean="0">
                <a:latin typeface="+mn-lt"/>
              </a:rPr>
              <a:t>收购</a:t>
            </a:r>
            <a:r>
              <a:rPr lang="en-US" altLang="zh-CN" b="1" dirty="0" smtClean="0">
                <a:latin typeface="+mn-lt"/>
                <a:ea typeface="华文中宋" panose="02010600040101010101" pitchFamily="2" charset="-122"/>
              </a:rPr>
              <a:t> 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）公司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的</a:t>
            </a:r>
            <a:r>
              <a:rPr lang="en-US" altLang="zh-CN" b="1" dirty="0" err="1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MultiSim</a:t>
            </a:r>
            <a:r>
              <a:rPr lang="en-US" altLang="zh-CN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;</a:t>
            </a:r>
            <a:endParaRPr lang="en-US" altLang="zh-CN" b="1" dirty="0" smtClean="0"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Avant</a:t>
            </a:r>
            <a:r>
              <a:rPr lang="en-US" altLang="zh-CN" b="1" dirty="0">
                <a:latin typeface="+mj-lt"/>
                <a:ea typeface="华文中宋" panose="02010600040101010101" pitchFamily="2" charset="-122"/>
              </a:rPr>
              <a:t>!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Synopsys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收购）公司的</a:t>
            </a:r>
            <a:r>
              <a:rPr lang="en-US" altLang="zh-CN" b="1" dirty="0" err="1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Hspice</a:t>
            </a: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;</a:t>
            </a:r>
            <a:endParaRPr lang="en-US" altLang="zh-CN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TI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TINA</a:t>
            </a:r>
            <a:r>
              <a:rPr lang="zh-CN" altLang="en-US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（简单）</a:t>
            </a:r>
            <a:endParaRPr lang="en-US" altLang="zh-CN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err="1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MicroCAP</a:t>
            </a:r>
            <a:endParaRPr lang="en-US" altLang="zh-CN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357" y="210026"/>
            <a:ext cx="9067800" cy="636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2060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3200" b="1" dirty="0" smtClean="0">
                <a:solidFill>
                  <a:srgbClr val="002060"/>
                </a:solidFill>
                <a:latin typeface="+mn-lt"/>
                <a:ea typeface="华文中宋" panose="02010600040101010101" pitchFamily="2" charset="-122"/>
              </a:rPr>
              <a:t>、数字电路与系统单端（仿真、综合）</a:t>
            </a:r>
            <a:endParaRPr lang="zh-CN" altLang="en-US" sz="3200" b="1" dirty="0" smtClean="0">
              <a:solidFill>
                <a:srgbClr val="002060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Mentor Graphics</a:t>
            </a:r>
            <a:r>
              <a:rPr lang="zh-CN" altLang="en-US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Siemens</a:t>
            </a:r>
            <a:r>
              <a:rPr lang="zh-CN" altLang="en-US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收购）公司的</a:t>
            </a:r>
            <a:r>
              <a:rPr lang="en-US" altLang="zh-CN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ModelSim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（仿真器）</a:t>
            </a:r>
            <a:endParaRPr lang="en-US" altLang="zh-CN" b="1" dirty="0" smtClean="0">
              <a:solidFill>
                <a:srgbClr val="FF0000"/>
              </a:solidFill>
              <a:highlight>
                <a:srgbClr val="FFFF00"/>
              </a:highlight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err="1" smtClean="0">
                <a:latin typeface="+mn-lt"/>
                <a:ea typeface="华文中宋" panose="02010600040101010101" pitchFamily="2" charset="-122"/>
              </a:rPr>
              <a:t>SynaptiCAD</a:t>
            </a:r>
            <a:r>
              <a:rPr lang="en-US" altLang="zh-CN" b="1" dirty="0" smtClean="0">
                <a:latin typeface="+mn-lt"/>
                <a:ea typeface="华文中宋" panose="02010600040101010101" pitchFamily="2" charset="-122"/>
              </a:rPr>
              <a:t> 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公司的</a:t>
            </a:r>
            <a:r>
              <a:rPr lang="en-US" altLang="zh-CN" b="1" dirty="0" err="1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Verilogger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 Pro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系列（仿真器）</a:t>
            </a:r>
            <a:endParaRPr lang="zh-CN" altLang="en-US" b="1" dirty="0" smtClean="0">
              <a:solidFill>
                <a:srgbClr val="FF0000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err="1" smtClean="0">
                <a:latin typeface="+mn-lt"/>
                <a:ea typeface="华文中宋" panose="02010600040101010101" pitchFamily="2" charset="-122"/>
              </a:rPr>
              <a:t>Robei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公司的</a:t>
            </a:r>
            <a:r>
              <a:rPr lang="en-US" altLang="zh-CN" b="1" dirty="0" err="1" smtClean="0">
                <a:solidFill>
                  <a:schemeClr val="accent2"/>
                </a:solidFill>
                <a:latin typeface="+mn-lt"/>
                <a:ea typeface="华文中宋" panose="02010600040101010101" pitchFamily="2" charset="-122"/>
              </a:rPr>
              <a:t>Robei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  <a:ea typeface="华文中宋" panose="02010600040101010101" pitchFamily="2" charset="-122"/>
              </a:rPr>
              <a:t>(</a:t>
            </a:r>
            <a:r>
              <a:rPr lang="zh-CN" altLang="en-US" b="1" dirty="0" smtClean="0">
                <a:solidFill>
                  <a:schemeClr val="accent2"/>
                </a:solidFill>
                <a:latin typeface="+mn-lt"/>
                <a:ea typeface="华文中宋" panose="02010600040101010101" pitchFamily="2" charset="-122"/>
              </a:rPr>
              <a:t>仿真器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  <a:ea typeface="华文中宋" panose="02010600040101010101" pitchFamily="2" charset="-122"/>
              </a:rPr>
              <a:t>)-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---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青岛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Robei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公司</a:t>
            </a:r>
            <a:endParaRPr lang="en-US" altLang="zh-CN" b="1" dirty="0" smtClean="0">
              <a:solidFill>
                <a:srgbClr val="FF0000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n-lt"/>
                <a:ea typeface="华文中宋" panose="02010600040101010101" pitchFamily="2" charset="-122"/>
              </a:rPr>
              <a:t>Synopsys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公司的</a:t>
            </a:r>
            <a:r>
              <a:rPr lang="en-US" altLang="zh-CN" b="1" dirty="0" smtClean="0">
                <a:solidFill>
                  <a:srgbClr val="002060"/>
                </a:solidFill>
                <a:latin typeface="+mn-lt"/>
                <a:ea typeface="华文中宋" panose="02010600040101010101" pitchFamily="2" charset="-122"/>
              </a:rPr>
              <a:t>VCS 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(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仿真器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) </a:t>
            </a:r>
            <a:endParaRPr lang="en-US" altLang="zh-CN" b="1" dirty="0" smtClean="0">
              <a:solidFill>
                <a:srgbClr val="FF0000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n-lt"/>
                <a:ea typeface="华文中宋" panose="02010600040101010101" pitchFamily="2" charset="-122"/>
              </a:rPr>
              <a:t>Synopsys</a:t>
            </a:r>
            <a:r>
              <a:rPr lang="zh-CN" altLang="en-US" b="1" dirty="0" smtClean="0">
                <a:latin typeface="+mn-lt"/>
                <a:ea typeface="华文中宋" panose="02010600040101010101" pitchFamily="2" charset="-122"/>
              </a:rPr>
              <a:t>公司的</a:t>
            </a:r>
            <a:r>
              <a:rPr lang="en-US" altLang="zh-CN" b="1" dirty="0" smtClean="0">
                <a:solidFill>
                  <a:srgbClr val="002060"/>
                </a:solidFill>
                <a:latin typeface="+mn-lt"/>
                <a:ea typeface="华文中宋" panose="02010600040101010101" pitchFamily="2" charset="-122"/>
              </a:rPr>
              <a:t>FPGA </a:t>
            </a:r>
            <a:r>
              <a:rPr lang="en-US" altLang="zh-CN" b="1" dirty="0" err="1" smtClean="0">
                <a:solidFill>
                  <a:srgbClr val="002060"/>
                </a:solidFill>
                <a:latin typeface="+mn-lt"/>
                <a:ea typeface="华文中宋" panose="02010600040101010101" pitchFamily="2" charset="-122"/>
              </a:rPr>
              <a:t>CompilerII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(</a:t>
            </a:r>
            <a:r>
              <a:rPr lang="zh-CN" altLang="en-US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综合器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)</a:t>
            </a:r>
            <a:endParaRPr lang="en-US" altLang="zh-CN" b="1" dirty="0" smtClean="0">
              <a:solidFill>
                <a:srgbClr val="FF0000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n-lt"/>
                <a:ea typeface="华文中宋" panose="02010600040101010101" pitchFamily="2" charset="-122"/>
              </a:rPr>
              <a:t> </a:t>
            </a:r>
            <a:r>
              <a:rPr lang="en-US" altLang="zh-CN" b="1" dirty="0" err="1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Synplicity</a:t>
            </a:r>
            <a:r>
              <a:rPr lang="zh-CN" altLang="en-US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en-US" altLang="zh-CN" b="1" dirty="0" smtClean="0">
                <a:ea typeface="华文中宋" panose="02010600040101010101" pitchFamily="2" charset="-122"/>
              </a:rPr>
              <a:t>Synopsys</a:t>
            </a:r>
            <a:r>
              <a:rPr lang="zh-CN" altLang="en-US" b="1" dirty="0" smtClean="0">
                <a:ea typeface="华文中宋" panose="02010600040101010101" pitchFamily="2" charset="-122"/>
              </a:rPr>
              <a:t>收购</a:t>
            </a:r>
            <a:r>
              <a:rPr lang="en-US" altLang="zh-CN" b="1" dirty="0" smtClean="0">
                <a:ea typeface="华文中宋" panose="02010600040101010101" pitchFamily="2" charset="-122"/>
              </a:rPr>
              <a:t> </a:t>
            </a:r>
            <a:r>
              <a:rPr lang="zh-CN" altLang="en-US" b="1" dirty="0" smtClean="0">
                <a:solidFill>
                  <a:srgbClr val="0033CC"/>
                </a:solidFill>
                <a:latin typeface="+mn-lt"/>
                <a:ea typeface="华文中宋" panose="02010600040101010101" pitchFamily="2" charset="-122"/>
              </a:rPr>
              <a:t>）公司的</a:t>
            </a:r>
            <a:r>
              <a:rPr lang="en-US" altLang="zh-CN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Synplify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/</a:t>
            </a:r>
            <a:r>
              <a:rPr lang="en-US" altLang="zh-CN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Synplify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 Pro(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综合器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华文中宋" panose="02010600040101010101" pitchFamily="2" charset="-122"/>
              </a:rPr>
              <a:t>)</a:t>
            </a:r>
            <a:endParaRPr lang="en-US" altLang="zh-CN" b="1" dirty="0" smtClean="0">
              <a:solidFill>
                <a:srgbClr val="FF0000"/>
              </a:solidFill>
              <a:highlight>
                <a:srgbClr val="FFFF00"/>
              </a:highlight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6998" y="332423"/>
            <a:ext cx="8857108" cy="600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3</a:t>
            </a:r>
            <a:r>
              <a:rPr lang="zh-CN" altLang="en-US" sz="32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、数字电路与系统设计类（</a:t>
            </a:r>
            <a:r>
              <a:rPr lang="en-US" altLang="zh-CN" sz="32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IDE</a:t>
            </a:r>
            <a:r>
              <a:rPr lang="zh-CN" altLang="en-US" sz="3200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集成）</a:t>
            </a:r>
            <a:endParaRPr lang="zh-CN" altLang="en-US" sz="3200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Lattice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Lattice Diamond</a:t>
            </a:r>
            <a:endParaRPr lang="en-US" altLang="zh-CN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   Xilinx</a:t>
            </a:r>
            <a:r>
              <a:rPr lang="zh-CN" altLang="en-US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AMD</a:t>
            </a:r>
            <a:r>
              <a:rPr lang="zh-CN" altLang="en-US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收购）公司的</a:t>
            </a: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ISE</a:t>
            </a:r>
            <a:r>
              <a:rPr lang="zh-CN" altLang="en-US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或</a:t>
            </a:r>
            <a:r>
              <a:rPr lang="en-US" altLang="zh-CN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Vivado</a:t>
            </a:r>
            <a:endParaRPr lang="en-US" altLang="zh-CN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   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Altera </a:t>
            </a:r>
            <a:r>
              <a:rPr lang="en-US" b="1" dirty="0" smtClean="0">
                <a:latin typeface="+mj-lt"/>
                <a:ea typeface="华文中宋" panose="02010600040101010101" pitchFamily="2" charset="-122"/>
              </a:rPr>
              <a:t>FPGA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b="1" dirty="0" err="1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Quartus</a:t>
            </a:r>
            <a:r>
              <a:rPr lang="en-US" altLang="zh-CN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 II</a:t>
            </a:r>
            <a:r>
              <a:rPr lang="zh-CN" altLang="en-US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或</a:t>
            </a:r>
            <a:r>
              <a:rPr lang="en-US" altLang="zh-CN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Quartus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 Prime</a:t>
            </a:r>
            <a:endParaRPr lang="en-US" altLang="zh-CN" b="1" dirty="0" smtClean="0">
              <a:solidFill>
                <a:srgbClr val="FF0000"/>
              </a:solidFill>
              <a:highlight>
                <a:srgbClr val="FFFF00"/>
              </a:highlight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solidFill>
                  <a:srgbClr val="0033CC"/>
                </a:solidFill>
                <a:latin typeface="+mj-lt"/>
                <a:ea typeface="华文中宋" panose="02010600040101010101" pitchFamily="2" charset="-122"/>
              </a:rPr>
              <a:t>   </a:t>
            </a:r>
            <a:r>
              <a:rPr lang="en-US" altLang="zh-CN" b="1" dirty="0" err="1" smtClean="0">
                <a:latin typeface="+mj-lt"/>
                <a:ea typeface="华文中宋" panose="02010600040101010101" pitchFamily="2" charset="-122"/>
              </a:rPr>
              <a:t>Actel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Microchip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收购）公司的</a:t>
            </a:r>
            <a:r>
              <a:rPr lang="en-US" altLang="zh-CN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Libero IDE</a:t>
            </a:r>
            <a:endParaRPr lang="en-US" altLang="zh-CN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安路科技（Anlogic 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）公司的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Tang Dynasty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TD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）</a:t>
            </a:r>
            <a:endParaRPr lang="zh-CN" altLang="en-US" b="1" dirty="0" smtClean="0"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紫光同创公司的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Pango Design Suite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PDS</a:t>
            </a:r>
            <a:r>
              <a:rPr lang="zh-CN" altLang="en-US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）</a:t>
            </a:r>
            <a:endParaRPr lang="zh-CN" altLang="en-US" b="1" dirty="0" smtClean="0"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  <a:defRPr/>
            </a:pP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高云（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Gowin</a:t>
            </a:r>
            <a:r>
              <a:rPr lang="zh-CN" altLang="en-US" b="1" dirty="0" smtClean="0">
                <a:latin typeface="+mj-lt"/>
                <a:ea typeface="华文中宋" panose="02010600040101010101" pitchFamily="2" charset="-122"/>
              </a:rPr>
              <a:t>）半导体公司的</a:t>
            </a:r>
            <a:r>
              <a:rPr lang="en-US" altLang="zh-CN" b="1" dirty="0" smtClean="0">
                <a:latin typeface="+mj-lt"/>
                <a:ea typeface="华文中宋" panose="02010600040101010101" pitchFamily="2" charset="-122"/>
              </a:rPr>
              <a:t>Gowin FPGA Designer</a:t>
            </a:r>
            <a:endParaRPr lang="en-US" altLang="zh-CN" b="1" dirty="0" smtClean="0">
              <a:latin typeface="+mj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9"/>
          <p:cNvSpPr>
            <a:spLocks noChangeArrowheads="1"/>
          </p:cNvSpPr>
          <p:nvPr/>
        </p:nvSpPr>
        <p:spPr bwMode="auto">
          <a:xfrm>
            <a:off x="179388" y="476250"/>
            <a:ext cx="824388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逻辑仿真器（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for 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simulat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ion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）</a:t>
            </a:r>
            <a:endParaRPr lang="zh-CN" altLang="en-US" sz="4400" b="1" dirty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341120"/>
            <a:ext cx="8728710" cy="479615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ChangeArrowheads="1"/>
          </p:cNvSpPr>
          <p:nvPr/>
        </p:nvSpPr>
        <p:spPr bwMode="auto">
          <a:xfrm>
            <a:off x="155575" y="260350"/>
            <a:ext cx="722471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逻辑综合器（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for s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ynthesi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s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） </a:t>
            </a:r>
            <a:endParaRPr lang="zh-CN" altLang="en-US" sz="4400" b="1" dirty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341120"/>
            <a:ext cx="8931910" cy="460756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ChangeArrowheads="1"/>
          </p:cNvSpPr>
          <p:nvPr/>
        </p:nvSpPr>
        <p:spPr bwMode="auto">
          <a:xfrm>
            <a:off x="107950" y="405130"/>
            <a:ext cx="873633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FPGA/CPL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D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  <a:sym typeface="+mn-ea"/>
              </a:rPr>
              <a:t>开发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的主要</a:t>
            </a:r>
            <a:r>
              <a:rPr lang="en-US" altLang="zh-CN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EDA</a:t>
            </a:r>
            <a:r>
              <a:rPr lang="zh-CN" altLang="en-US" sz="4400" b="1" dirty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软件 </a:t>
            </a:r>
            <a:endParaRPr lang="zh-CN" altLang="en-US" sz="4400" b="1" dirty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628775"/>
            <a:ext cx="8993505" cy="14598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3573145"/>
            <a:ext cx="9025890" cy="144145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250825" y="333375"/>
            <a:ext cx="8569325" cy="624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 4</a:t>
            </a:r>
            <a:r>
              <a:rPr lang="zh-CN" altLang="en-US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、</a:t>
            </a:r>
            <a:r>
              <a:rPr lang="en-US" altLang="zh-CN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PCB</a:t>
            </a:r>
            <a:r>
              <a:rPr lang="zh-CN" altLang="en-US" b="1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版图设计类（基于板级自动布局布线）</a:t>
            </a:r>
            <a:endParaRPr lang="zh-CN" altLang="en-US" b="1" dirty="0" smtClean="0">
              <a:solidFill>
                <a:srgbClr val="00206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defRPr/>
            </a:pPr>
            <a:r>
              <a:rPr lang="zh-CN" altLang="en-US" sz="2400" dirty="0" smtClean="0">
                <a:solidFill>
                  <a:srgbClr val="002060"/>
                </a:solidFill>
                <a:latin typeface="+mj-lt"/>
                <a:ea typeface="华文中宋" panose="02010600040101010101" pitchFamily="2" charset="-122"/>
              </a:rPr>
              <a:t> </a:t>
            </a:r>
            <a:r>
              <a:rPr lang="zh-CN" altLang="en-US" sz="2400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 </a:t>
            </a:r>
            <a:r>
              <a:rPr lang="en-US" altLang="zh-CN" sz="2800" b="1" dirty="0" smtClean="0">
                <a:latin typeface="+mj-lt"/>
                <a:ea typeface="华文中宋" panose="02010600040101010101" pitchFamily="2" charset="-122"/>
              </a:rPr>
              <a:t>Cadence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ORCAD PCB Design Suites</a:t>
            </a:r>
            <a:r>
              <a:rPr lang="zh-CN" altLang="en-US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Allegro</a:t>
            </a:r>
            <a:endParaRPr lang="en-US" altLang="zh-CN" sz="2800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+mj-lt"/>
                <a:ea typeface="华文中宋" panose="02010600040101010101" pitchFamily="2" charset="-122"/>
              </a:rPr>
              <a:t> Mentor Graphics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sz="2800" b="1" dirty="0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PADS Suites</a:t>
            </a:r>
            <a:endParaRPr lang="en-US" altLang="zh-CN" sz="2800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defRPr/>
            </a:pPr>
            <a:r>
              <a:rPr lang="en-US" altLang="zh-CN" sz="2800" b="1" dirty="0" smtClean="0">
                <a:solidFill>
                  <a:schemeClr val="accent6"/>
                </a:solidFill>
                <a:latin typeface="+mj-lt"/>
                <a:ea typeface="华文中宋" panose="02010600040101010101" pitchFamily="2" charset="-122"/>
              </a:rPr>
              <a:t> </a:t>
            </a:r>
            <a:r>
              <a:rPr lang="en-US" altLang="zh-CN" sz="2800" b="1" dirty="0" err="1" smtClean="0">
                <a:solidFill>
                  <a:schemeClr val="accent6"/>
                </a:solidFill>
                <a:latin typeface="+mj-lt"/>
                <a:ea typeface="华文中宋" panose="02010600040101010101" pitchFamily="2" charset="-122"/>
              </a:rPr>
              <a:t>Altium</a:t>
            </a:r>
            <a:r>
              <a:rPr lang="zh-CN" altLang="en-US" sz="2800" b="1" dirty="0" smtClean="0">
                <a:solidFill>
                  <a:schemeClr val="accent6"/>
                </a:solidFill>
                <a:latin typeface="+mj-lt"/>
                <a:ea typeface="华文中宋" panose="02010600040101010101" pitchFamily="2" charset="-122"/>
              </a:rPr>
              <a:t>公司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的</a:t>
            </a:r>
            <a:r>
              <a:rPr lang="en-US" altLang="zh-CN" sz="2800" b="1" dirty="0" err="1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Altium</a:t>
            </a:r>
            <a:r>
              <a:rPr lang="en-US" altLang="zh-CN" sz="28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 Designer</a:t>
            </a:r>
            <a:r>
              <a:rPr lang="zh-CN" altLang="en-US" sz="2800" b="1" dirty="0" smtClean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华文中宋" panose="02010600040101010101" pitchFamily="2" charset="-122"/>
              </a:rPr>
              <a:t>系列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（收购</a:t>
            </a:r>
            <a:r>
              <a:rPr lang="en-US" altLang="zh-CN" sz="2800" b="1" dirty="0" err="1" smtClean="0">
                <a:latin typeface="+mj-lt"/>
                <a:ea typeface="华文中宋" panose="02010600040101010101" pitchFamily="2" charset="-122"/>
              </a:rPr>
              <a:t>Protel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、</a:t>
            </a:r>
            <a:r>
              <a:rPr lang="en-US" altLang="zh-CN" sz="2800" b="1" dirty="0" smtClean="0">
                <a:latin typeface="+mj-lt"/>
                <a:ea typeface="华文中宋" panose="02010600040101010101" pitchFamily="2" charset="-122"/>
              </a:rPr>
              <a:t>P-CAD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、</a:t>
            </a:r>
            <a:r>
              <a:rPr lang="en-US" altLang="zh-CN" sz="2800" b="1" dirty="0" smtClean="0">
                <a:latin typeface="+mj-lt"/>
                <a:ea typeface="华文中宋" panose="02010600040101010101" pitchFamily="2" charset="-122"/>
              </a:rPr>
              <a:t>Tasking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）</a:t>
            </a:r>
            <a:endParaRPr lang="en-US" altLang="zh-CN" sz="2800" b="1" dirty="0" smtClean="0">
              <a:latin typeface="+mj-lt"/>
              <a:ea typeface="华文中宋" panose="0201060004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+mj-lt"/>
                <a:ea typeface="华文中宋" panose="02010600040101010101" pitchFamily="2" charset="-122"/>
              </a:rPr>
              <a:t>NI</a:t>
            </a:r>
            <a:r>
              <a:rPr lang="zh-CN" altLang="en-US" sz="2800" b="1" dirty="0" smtClean="0">
                <a:latin typeface="+mj-lt"/>
                <a:ea typeface="华文中宋" panose="02010600040101010101" pitchFamily="2" charset="-122"/>
              </a:rPr>
              <a:t>公司的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+mj-lt"/>
                <a:ea typeface="华文中宋" panose="02010600040101010101" pitchFamily="2" charset="-122"/>
              </a:rPr>
              <a:t>Ultiboard</a:t>
            </a:r>
            <a:endParaRPr lang="zh-CN" altLang="en-US" sz="2800" b="1" dirty="0" smtClean="0">
              <a:solidFill>
                <a:srgbClr val="FF0000"/>
              </a:solidFill>
              <a:latin typeface="+mj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07950" y="2853055"/>
            <a:ext cx="8917305" cy="181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</a:pPr>
            <a:r>
              <a:rPr lang="zh-CN" altLang="en-US" sz="28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     结合</a:t>
            </a:r>
            <a:r>
              <a:rPr lang="en-US" altLang="zh-CN" sz="28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8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学伴，简要</a:t>
            </a:r>
            <a:r>
              <a:rPr lang="zh-CN" altLang="en-US" sz="2800" b="1" dirty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总结</a:t>
            </a:r>
            <a:r>
              <a:rPr lang="zh-CN" altLang="en-US" sz="2800" b="1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梳理适合于数字电路（系统）开发</a:t>
            </a:r>
            <a:r>
              <a:rPr lang="zh-CN" altLang="en-US" sz="2800" b="1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的国内外主要</a:t>
            </a:r>
            <a:r>
              <a:rPr lang="en-US" altLang="zh-CN" sz="28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800" b="1" dirty="0" smtClean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工具（软件）的类别</a:t>
            </a:r>
            <a:r>
              <a:rPr lang="zh-CN" altLang="en-US" sz="2800" b="1" dirty="0">
                <a:solidFill>
                  <a:schemeClr val="accent2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、功能。</a:t>
            </a:r>
            <a:endParaRPr lang="en-US" altLang="zh-CN" sz="2800" b="1" dirty="0">
              <a:solidFill>
                <a:schemeClr val="accent2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30505" y="950595"/>
            <a:ext cx="2753360" cy="79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accent2"/>
                </a:solidFill>
                <a:ea typeface="华文中宋" panose="02010600040101010101" pitchFamily="2" charset="-122"/>
              </a:rPr>
              <a:t>作业</a:t>
            </a:r>
            <a:r>
              <a:rPr lang="en-US" altLang="zh-CN" sz="4400" b="1">
                <a:solidFill>
                  <a:schemeClr val="accent2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4400" b="1">
                <a:solidFill>
                  <a:schemeClr val="accent2"/>
                </a:solidFill>
                <a:ea typeface="华文中宋" panose="02010600040101010101" pitchFamily="2" charset="-122"/>
              </a:rPr>
              <a:t>-2</a:t>
            </a:r>
            <a:r>
              <a:rPr lang="zh-CN" altLang="en-US" sz="4000" b="1">
                <a:solidFill>
                  <a:schemeClr val="accent2"/>
                </a:solidFill>
                <a:ea typeface="华文中宋" panose="02010600040101010101" pitchFamily="2" charset="-122"/>
              </a:rPr>
              <a:t> </a:t>
            </a:r>
            <a:endParaRPr lang="zh-CN" altLang="en-US" sz="4000" b="1">
              <a:solidFill>
                <a:schemeClr val="accent2"/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0099"/>
      </a:hlink>
      <a:folHlink>
        <a:srgbClr val="FF0066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WPS 演示</Application>
  <PresentationFormat>全屏显示(4:3)</PresentationFormat>
  <Paragraphs>50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Times New Roman</vt:lpstr>
      <vt:lpstr>华文中宋</vt:lpstr>
      <vt:lpstr>Tahoma</vt:lpstr>
      <vt:lpstr>微软雅黑</vt:lpstr>
      <vt:lpstr>Arial Unicode MS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西安火炬电脑公司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于云华</dc:creator>
  <cp:lastModifiedBy>yyh1040</cp:lastModifiedBy>
  <cp:revision>104</cp:revision>
  <dcterms:created xsi:type="dcterms:W3CDTF">2004-02-13T00:18:00Z</dcterms:created>
  <dcterms:modified xsi:type="dcterms:W3CDTF">2026-03-06T01:18:31Z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A103C853E1394BF5A6DB0D97461496F6_12</vt:lpwstr>
  </property>
  <property fmtid="{D5CDD505-2E9C-101B-9397-08002B2CF9AE}" pid="3" name="KSOProductBuildVer">
    <vt:lpwstr>2052-12.1.0.25222</vt:lpwstr>
  </property>
</Properties>
</file>