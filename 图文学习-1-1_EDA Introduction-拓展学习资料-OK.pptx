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256" r:id="rId4"/>
    <p:sldId id="349" r:id="rId5"/>
    <p:sldId id="342" r:id="rId6"/>
    <p:sldId id="350" r:id="rId7"/>
    <p:sldId id="259" r:id="rId8"/>
    <p:sldId id="260" r:id="rId9"/>
    <p:sldId id="261" r:id="rId10"/>
    <p:sldId id="262" r:id="rId11"/>
    <p:sldId id="264" r:id="rId12"/>
    <p:sldId id="265" r:id="rId13"/>
    <p:sldId id="267" r:id="rId14"/>
    <p:sldId id="284" r:id="rId15"/>
    <p:sldId id="393" r:id="rId16"/>
    <p:sldId id="353" r:id="rId18"/>
    <p:sldId id="354" r:id="rId19"/>
    <p:sldId id="452" r:id="rId20"/>
    <p:sldId id="394" r:id="rId21"/>
    <p:sldId id="395" r:id="rId22"/>
    <p:sldId id="396" r:id="rId23"/>
    <p:sldId id="419" r:id="rId24"/>
    <p:sldId id="422" r:id="rId25"/>
    <p:sldId id="423" r:id="rId26"/>
    <p:sldId id="424" r:id="rId27"/>
    <p:sldId id="421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399" r:id="rId37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33C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9" d="100"/>
          <a:sy n="89" d="100"/>
        </p:scale>
        <p:origin x="128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43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B43CBD-D3C7-4A4E-9F28-67211BC496EA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041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0625" y="681038"/>
            <a:ext cx="4538663" cy="3403600"/>
          </a:xfrm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xfrm>
            <a:off x="882650" y="4357688"/>
            <a:ext cx="5080000" cy="408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24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31" tIns="45716" rIns="91431" bIns="45716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45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0625" y="681038"/>
            <a:ext cx="4538663" cy="3403600"/>
          </a:xfrm>
        </p:spPr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>
          <a:xfrm>
            <a:off x="882650" y="4357688"/>
            <a:ext cx="5080000" cy="408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65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31" tIns="45716" rIns="91431" bIns="45716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86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31" tIns="45716" rIns="91431" bIns="45716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065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0625" y="681038"/>
            <a:ext cx="4538663" cy="3403600"/>
          </a:xfrm>
        </p:spPr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>
          <a:xfrm>
            <a:off x="882650" y="4357688"/>
            <a:ext cx="5080000" cy="408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27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0625" y="681038"/>
            <a:ext cx="4538663" cy="3403600"/>
          </a:xfrm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xfrm>
            <a:off x="882650" y="4357688"/>
            <a:ext cx="5080000" cy="408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Verdana" panose="020B0604030504040204" pitchFamily="34" charset="0"/>
              </a:rPr>
            </a:fld>
            <a:endParaRPr lang="en-US" altLang="zh-CN" sz="12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8688" y="728663"/>
            <a:ext cx="4852987" cy="3640137"/>
          </a:xfrm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xfrm>
            <a:off x="855663" y="4660900"/>
            <a:ext cx="4924425" cy="4368800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Verdana" panose="020B0604030504040204" pitchFamily="34" charset="0"/>
              </a:rPr>
            </a:fld>
            <a:endParaRPr lang="en-US" altLang="zh-CN" sz="12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24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0625" y="681038"/>
            <a:ext cx="4538663" cy="3403600"/>
          </a:xfrm>
        </p:spPr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>
          <a:xfrm>
            <a:off x="882650" y="4357688"/>
            <a:ext cx="5080000" cy="408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4BE0FF-7DC9-48A5-AF34-18AC6A865261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F0B1C0-90F7-4CA5-84C1-3209B1D08D7E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0CC777-7956-47B8-B1B5-6D6E7BDF66AD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96DC8B-6222-4353-876F-4D9C92FFDB02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C6EC61-23A5-4B12-AFB7-3D6E7328256D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469A0C-02F1-453B-BCAC-BC74985119AC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76BA41-0427-4781-8C72-4B9859FE9E03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EBFA4D-109F-472D-8BFC-659F31276080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B5E036-87BC-49B7-8C78-A212E4383425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78A78D-9A1D-451F-A15D-E3EF20CB5F9F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73113"/>
            <a:ext cx="1943100" cy="53228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773113"/>
            <a:ext cx="5678487" cy="53228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B0603-D751-4C6A-9BF3-E6D5BEE1C02F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7"/>
          <p:cNvSpPr/>
          <p:nvPr/>
        </p:nvSpPr>
        <p:spPr>
          <a:xfrm>
            <a:off x="144463" y="1052513"/>
            <a:ext cx="8855075" cy="714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315" name="Picture 8" descr="前进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02550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Picture 9" descr="播放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86763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Picture 10" descr="后退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018338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18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99490" y="206081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zh-CN" noProof="0" smtClean="0"/>
              <a:t>abcdefg</a:t>
            </a:r>
            <a:endParaRPr lang="en-US" altLang="zh-CN" noProof="0" smtClean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b="0"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271994-DE32-4B8D-9385-1B1655665F54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2C513A-7365-493B-BEBD-EE0C5A750D81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EDFD3C-2A2F-4B3F-B0E5-CDFB90A79699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628775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7888" y="1628775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98C52F-E9F8-4291-89B1-7D2C1797457A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AE8A77-0608-4BBC-B279-79FD9F988416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AD67B3-87E8-45D7-AF7B-904EF28C5548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E1E9AF-14B5-4F77-A30F-F5BFAC5E4ABD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57BFCC-2596-475D-BECC-E107820F80D2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ED4E63-972E-48E9-8753-881E05216E56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760CB0-80CE-44BE-9B5E-A7909F442C42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04000" y="260350"/>
            <a:ext cx="2008188" cy="56356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4675" y="260350"/>
            <a:ext cx="5876925" cy="56356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7A7A7A-583B-4765-9465-87BEB0AB58AD}" type="slidenum"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blinds dir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  <a:r>
              <a:rPr lang="en-US" altLang="zh-CN" dirty="0"/>
              <a:t>abcd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11188" y="1628775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abvd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rand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anose="0201060903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/>
          <p:nvPr/>
        </p:nvSpPr>
        <p:spPr>
          <a:xfrm>
            <a:off x="611188" y="404813"/>
            <a:ext cx="7127875" cy="701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1" hangingPunct="1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Lecture 10-1  EDA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技术概述</a:t>
            </a:r>
            <a:endParaRPr lang="zh-CN" altLang="en-US" sz="40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5603" name="Text Box 6"/>
          <p:cNvSpPr txBox="1"/>
          <p:nvPr/>
        </p:nvSpPr>
        <p:spPr>
          <a:xfrm>
            <a:off x="971550" y="1196975"/>
            <a:ext cx="7031038" cy="4615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1.1 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什么是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？（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What?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1.2  EDA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的应用范畴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1.3  EDA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技术的发展历程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1.4  EDA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技术的主要内容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1.5  EDA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技术的新发展</a:t>
            </a:r>
            <a:r>
              <a:rPr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与优势</a:t>
            </a:r>
            <a:endParaRPr lang="en-US" altLang="zh-CN" sz="2800" b="1" dirty="0" smtClean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1.6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Top-down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设计与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核复用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1.7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基于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EDA/FPGA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的数字系统设计流程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Text Box 4"/>
          <p:cNvSpPr txBox="1"/>
          <p:nvPr/>
        </p:nvSpPr>
        <p:spPr>
          <a:xfrm>
            <a:off x="0" y="3068638"/>
            <a:ext cx="9144000" cy="2892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具体来讲，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就是以计算机和操作系统做为平台，综合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电路与系统、数据库、图形学、图论和拓扑逻辑、计算数学、优化理论、软件工程、仿真技术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等多个学科和领域的专业知识而开发的具有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仿真分析、自动综合、自动布局布线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等多种功能的应用软件包。</a:t>
            </a:r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8131" name="Text Box 5"/>
          <p:cNvSpPr txBox="1"/>
          <p:nvPr/>
        </p:nvSpPr>
        <p:spPr>
          <a:xfrm>
            <a:off x="1908175" y="328613"/>
            <a:ext cx="467995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1.1  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什么是</a:t>
            </a:r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？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8132" name="Rectangle 6"/>
          <p:cNvSpPr/>
          <p:nvPr/>
        </p:nvSpPr>
        <p:spPr>
          <a:xfrm>
            <a:off x="107950" y="1268413"/>
            <a:ext cx="8820150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EDA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lectronic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esign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utomation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概括来讲，是基于计算机软硬件平台而开发，用于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电子电路与系统的辅助设计的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方法和工具总称。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/>
          <p:nvPr/>
        </p:nvSpPr>
        <p:spPr>
          <a:xfrm>
            <a:off x="1908175" y="260350"/>
            <a:ext cx="5653088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1.2  EDA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的应用范畴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3338" y="1123950"/>
            <a:ext cx="9144000" cy="507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  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广义上，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的范畴包括电子工程师进行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电子产品开发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的全过程中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所有利用计算机辅助功能的软件工具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。一般分为如下几个层次：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晶体管级或分离器件构成的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电路级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的仿真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软件，如基于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SPICE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语言的各种模拟电路和数字电路的仿真软件（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Multisim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）； 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全定制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ASIC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或者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FPGA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芯片级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设计与开发工具，如各种基于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HDL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输入的仿真、综合、布局布线软件（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Vivado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）；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PCB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板级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设计工具，如实现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PCB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自动布局布线的设计软件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Altium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Designer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Ultiboard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等；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系统级或算法级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仿真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工具，如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Matlab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/Simulink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77788" y="333375"/>
            <a:ext cx="9036050" cy="1728788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ea typeface="华文楷体" panose="02010600040101010101" pitchFamily="2" charset="-122"/>
              </a:rPr>
              <a:t>     狭义上，</a:t>
            </a:r>
            <a:r>
              <a:rPr lang="en-US" altLang="zh-CN" sz="2400" b="1" dirty="0">
                <a:ea typeface="华文楷体" panose="02010600040101010101" pitchFamily="2" charset="-122"/>
              </a:rPr>
              <a:t>EDA</a:t>
            </a:r>
            <a:r>
              <a:rPr lang="zh-CN" altLang="en-US" sz="2400" b="1" dirty="0">
                <a:ea typeface="华文楷体" panose="02010600040101010101" pitchFamily="2" charset="-122"/>
              </a:rPr>
              <a:t>是指能够帮助用户实现</a:t>
            </a:r>
            <a:r>
              <a:rPr lang="zh-CN" altLang="en-US" sz="2400" b="1" dirty="0">
                <a:solidFill>
                  <a:srgbClr val="FF0000"/>
                </a:solidFill>
                <a:ea typeface="华文楷体" panose="02010600040101010101" pitchFamily="2" charset="-122"/>
              </a:rPr>
              <a:t>电路级仿真、芯片级设计和</a:t>
            </a:r>
            <a:r>
              <a:rPr lang="en-US" altLang="zh-CN" sz="2400" b="1" dirty="0">
                <a:solidFill>
                  <a:srgbClr val="FF0000"/>
                </a:solidFill>
                <a:ea typeface="华文楷体" panose="02010600040101010101" pitchFamily="2" charset="-122"/>
              </a:rPr>
              <a:t>PCB</a:t>
            </a:r>
            <a:r>
              <a:rPr lang="zh-CN" altLang="en-US" sz="2400" b="1" dirty="0">
                <a:solidFill>
                  <a:srgbClr val="FF0000"/>
                </a:solidFill>
                <a:ea typeface="华文楷体" panose="02010600040101010101" pitchFamily="2" charset="-122"/>
              </a:rPr>
              <a:t>板级设计</a:t>
            </a:r>
            <a:r>
              <a:rPr lang="zh-CN" altLang="en-US" sz="2400" b="1" dirty="0">
                <a:ea typeface="华文楷体" panose="02010600040101010101" pitchFamily="2" charset="-122"/>
              </a:rPr>
              <a:t>的软件，如图所示。本课程主要介绍</a:t>
            </a:r>
            <a:r>
              <a:rPr lang="en-US" altLang="zh-CN" sz="2400" b="1" dirty="0">
                <a:ea typeface="华文楷体" panose="02010600040101010101" pitchFamily="2" charset="-122"/>
              </a:rPr>
              <a:t>EDA</a:t>
            </a:r>
            <a:r>
              <a:rPr lang="zh-CN" altLang="en-US" sz="2400" b="1" dirty="0">
                <a:ea typeface="华文楷体" panose="02010600040101010101" pitchFamily="2" charset="-122"/>
              </a:rPr>
              <a:t>仿真、数字电路设计等。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  <p:pic>
        <p:nvPicPr>
          <p:cNvPr id="50179" name="Picture 5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492375"/>
            <a:ext cx="8266113" cy="3673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/>
          <p:nvPr/>
        </p:nvSpPr>
        <p:spPr>
          <a:xfrm>
            <a:off x="1187450" y="476250"/>
            <a:ext cx="6480175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1.3  EDA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技术的发展历程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6083" name="Text Box 5"/>
          <p:cNvSpPr txBox="1">
            <a:spLocks noChangeArrowheads="1"/>
          </p:cNvSpPr>
          <p:nvPr/>
        </p:nvSpPr>
        <p:spPr bwMode="auto">
          <a:xfrm>
            <a:off x="0" y="1557338"/>
            <a:ext cx="9144000" cy="437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   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技术伴随着计算机、集成电路、电子系统设计的发展，经历了：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计算机辅助设计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(Computer Assist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Design,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CAD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，雏形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计算机辅助工程设计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(Computer Assist Engineering ,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CAE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，基础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电子设计自动化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(Electronic Design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Automation,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),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成熟应用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等几个发展阶段。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/>
          <p:nvPr/>
        </p:nvSpPr>
        <p:spPr>
          <a:xfrm>
            <a:off x="323850" y="1268413"/>
            <a:ext cx="8534400" cy="4813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1.  20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世纪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70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年代：计算机辅助设计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CAD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阶段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早期的电子系统硬件设计采用的是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分立元件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，随着集成电路的出现和应用，硬件设计大量选用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中、小规模标准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集成电路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，人们将这些器件焊接在电路板（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PCB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）上，做成初级电子系统。对电子系统的调试，是在组装好的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PCB(Printed Circuit Board)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上进行的。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/>
          <p:nvPr/>
        </p:nvSpPr>
        <p:spPr>
          <a:xfrm>
            <a:off x="78105" y="71755"/>
            <a:ext cx="9036050" cy="65227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由于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PCB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电路板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设计师对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图形符号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使用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数量有限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，传统的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手工布图方法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无法满足产品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复杂性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的要求，更不能满足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工作效率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的要求。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人们开始将产品设计过程中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高度重复性的繁杂劳动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，如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布局、布线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工作，用二维图形编辑与分析的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CAD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工具替代，最具代表性的产品就是用于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PCB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制版的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Tango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软件。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20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世纪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70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年代，是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技术发展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初期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，由于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PCB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布图布线工具受到计算机工作平台的制约，功能有限，且性能比较差。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/>
          <p:nvPr/>
        </p:nvSpPr>
        <p:spPr>
          <a:xfrm>
            <a:off x="179388" y="765175"/>
            <a:ext cx="8591550" cy="5508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2.  20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世纪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80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年代：计算机辅助工程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设计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CAE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阶段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随着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微电子技术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半导体制造工艺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发展，相继出现了集成上万只晶体管的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微处理器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、集成几十万直到上百万个储存单元的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。此外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，出现了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可编程逻辑器件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PLD(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如：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PAL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GAL)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等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一系列新的微结构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和微电子学的研究成果，都为电子系统的设计提供了新天地。因此，可以用少数几种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通用的标准芯片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（如</a:t>
            </a:r>
            <a:r>
              <a: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MCU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PLD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实现电子系统的设计。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4"/>
          <p:cNvSpPr txBox="1"/>
          <p:nvPr/>
        </p:nvSpPr>
        <p:spPr>
          <a:xfrm>
            <a:off x="250825" y="908050"/>
            <a:ext cx="8534400" cy="4710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到了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20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世纪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80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年代后期，已经出现了具有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设计描述、综合与优化、设计结果验证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等功能的计算机辅助工程设计（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CAE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）工具。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CAE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工具不仅为成功开发电子产品创造了有利条件，而且为高级设计人员的创造性劳动提供了方便。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但是，大部分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基于原理图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输入和编辑的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CAE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工具，仍然不能适应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复杂电子系统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的设计需求。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/>
          <p:cNvSpPr txBox="1">
            <a:spLocks noChangeArrowheads="1"/>
          </p:cNvSpPr>
          <p:nvPr/>
        </p:nvSpPr>
        <p:spPr bwMode="auto">
          <a:xfrm>
            <a:off x="179388" y="260350"/>
            <a:ext cx="8763000" cy="627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marR="0" lvl="0" indent="-51435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 startAt="3"/>
              <a:defRPr/>
            </a:pP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20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世纪</a:t>
            </a: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90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年代及以后：电子系统设计自动化</a:t>
            </a: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     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  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为了满足不同用户提出的不同的设计要求，最好的办法是由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用户自己设计芯片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。微电子技术的发展，使得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IC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制造厂家可以为用户提供各种规模的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可编程逻辑器件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，使设计者通过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对半定制芯片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二次开发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来实现电子系统功能。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这个阶段发展起来了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工具，设计师可以使用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EDA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工具，通过一些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标准化的设计过程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，利用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IC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厂家提供的设计库，来完成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非常复杂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的大规模规模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ASIC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和集成系统的设计与验证。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/>
          <p:nvPr/>
        </p:nvSpPr>
        <p:spPr>
          <a:xfrm>
            <a:off x="1476375" y="333375"/>
            <a:ext cx="6408738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1.4  EDA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技术的主要内容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7347" name="Text Box 5"/>
          <p:cNvSpPr txBox="1"/>
          <p:nvPr/>
        </p:nvSpPr>
        <p:spPr>
          <a:xfrm>
            <a:off x="34925" y="1346200"/>
            <a:ext cx="9144000" cy="5076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主要应掌握如下四个方面的内容：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①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仿真及设计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软件； ②大规模可编程数字器件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FPGA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基础；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③硬件描述语言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；④ 基于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的电路与系统开发实践。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其中：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软件是利用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技术进行电子系统的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仿真和设计平台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，大规模可编程逻辑器件是利用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技术进行电子系统设计的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载体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，硬件描述语言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是利用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技术进行电子系统设计的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主要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描述方式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电路与系统开发实践则是对以上各个环节的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综合应用实践能力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的锻炼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/>
          <p:nvPr/>
        </p:nvSpPr>
        <p:spPr>
          <a:xfrm>
            <a:off x="827088" y="476250"/>
            <a:ext cx="8047037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1.5  EDA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技术的新发展</a:t>
            </a:r>
            <a:r>
              <a:rPr lang="zh-CN" altLang="en-US" sz="4400" b="1" dirty="0" smtClean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及优势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8371" name="Text Box 5"/>
          <p:cNvSpPr txBox="1"/>
          <p:nvPr/>
        </p:nvSpPr>
        <p:spPr>
          <a:xfrm>
            <a:off x="4763" y="1412875"/>
            <a:ext cx="9109075" cy="5078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）电子技术各个领域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全方位融入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技术。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核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在电子设计领域得到了广泛的应用。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）嵌入式微处理器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软核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的出现，更大规模的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FPGA/CPLD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器件的不断推出，使得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SoPC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System on Programmable Chip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，可编程芯片系统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）、</a:t>
            </a:r>
            <a:r>
              <a:rPr lang="en-US" altLang="zh-CN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SoC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片</a:t>
            </a:r>
            <a:r>
              <a:rPr lang="zh-CN" altLang="en-US" b="1" dirty="0" smtClean="0">
                <a:solidFill>
                  <a:srgbClr val="FF0000"/>
                </a:solidFill>
                <a:ea typeface="华文中宋" panose="02010600040101010101" pitchFamily="2" charset="-122"/>
              </a:rPr>
              <a:t>上系统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r>
              <a:rPr lang="zh-CN" altLang="en-US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步入成熟的实用化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阶段。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）用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FPGA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实现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全硬件的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DSP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（数字信号处理）处理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成为可能。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）在</a:t>
            </a:r>
            <a:r>
              <a:rPr lang="zh-CN" altLang="en-US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设计、仿真、验证等方面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支持标准硬件描述</a:t>
            </a:r>
            <a:r>
              <a:rPr lang="zh-CN" altLang="en-US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语言（</a:t>
            </a:r>
            <a:r>
              <a:rPr lang="en-US" altLang="zh-CN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HDL</a:t>
            </a:r>
            <a:r>
              <a:rPr lang="zh-CN" altLang="en-US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）的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软件不断推出，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系统级、行为验证级硬件描述语言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的出现，使得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复杂电子系统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的设计和验证更加高效。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32412" y="-13579"/>
            <a:ext cx="2811396" cy="850291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ea typeface="华文中宋" panose="02010600040101010101" pitchFamily="2" charset="-122"/>
              </a:rPr>
              <a:t>EDA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技术</a:t>
            </a:r>
            <a:r>
              <a:rPr lang="zh-CN" altLang="en-US" sz="2400" b="1" dirty="0" smtClean="0">
                <a:solidFill>
                  <a:srgbClr val="FF0000"/>
                </a:solidFill>
                <a:ea typeface="华文中宋" panose="02010600040101010101" pitchFamily="2" charset="-122"/>
              </a:rPr>
              <a:t>的优势：</a:t>
            </a:r>
            <a:endParaRPr lang="zh-CN" altLang="en-US" sz="24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7733" y="980728"/>
            <a:ext cx="8928992" cy="5324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1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．保证设计过程的正确性，大大降低设计成本，缩短设计周期。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．有各类库的支持。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．极大地简化设计文档的管理。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．日益强大的逻辑设计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仿真（验证）测试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技术。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．设计者拥有完全的自主权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，不再受制于人。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6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．良好的可移植与可测试性，为系统开发提供了可靠的保证。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7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．能将所有设计环节纳入统一的自顶向下的设计方案中。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8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．</a:t>
            </a:r>
            <a:r>
              <a:rPr lang="en-US" altLang="zh-CN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EDA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不但在整个设计流程上充分利用计算机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的辅助设计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能力，而且在各个设计层次上利用计算机完成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不同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阶段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的仿真、验证，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在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系统设计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结束后仍可利用计算机对硬件系统进行完整</a:t>
            </a:r>
            <a:r>
              <a:rPr lang="zh-CN" altLang="en-US" sz="2000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的系统测试</a:t>
            </a:r>
            <a:r>
              <a:rPr lang="zh-CN" altLang="en-US" sz="20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。</a:t>
            </a:r>
            <a:endParaRPr lang="zh-CN" altLang="en-US" sz="2000" b="1" dirty="0">
              <a:solidFill>
                <a:srgbClr val="0033CC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/>
          <p:nvPr/>
        </p:nvSpPr>
        <p:spPr>
          <a:xfrm>
            <a:off x="539750" y="412750"/>
            <a:ext cx="817245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1.6 Top-down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设计与</a:t>
            </a:r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核复用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61443" name="Picture 3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484313"/>
            <a:ext cx="4579938" cy="5072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4" name="Rectangle 4"/>
          <p:cNvSpPr/>
          <p:nvPr/>
        </p:nvSpPr>
        <p:spPr>
          <a:xfrm>
            <a:off x="5220072" y="1340768"/>
            <a:ext cx="3772916" cy="507831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Top-down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自上而下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）设计，是经过“整体划分模块</a:t>
            </a:r>
            <a:r>
              <a:rPr lang="en-US" altLang="zh-CN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各模块设计</a:t>
            </a:r>
            <a:r>
              <a:rPr lang="en-US" altLang="zh-CN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模块及整体验证</a:t>
            </a:r>
            <a:r>
              <a:rPr lang="en-US" altLang="zh-CN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修改设计</a:t>
            </a:r>
            <a:r>
              <a:rPr lang="en-US" altLang="zh-CN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再验证”的过程，不断反复，直到结果能够实现所要求的功能，并在速度、功耗</a:t>
            </a:r>
            <a:r>
              <a:rPr lang="zh-CN" altLang="en-US" b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、面积、效率和可靠性等方面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实现较为合理的平衡。 </a:t>
            </a:r>
            <a:endParaRPr lang="zh-CN" altLang="en-US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ChangeArrowheads="1"/>
          </p:cNvSpPr>
          <p:nvPr/>
        </p:nvSpPr>
        <p:spPr bwMode="auto">
          <a:xfrm>
            <a:off x="179388" y="1981200"/>
            <a:ext cx="8202613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Bottom-up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设计，即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自下而上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的设计，由设计者利用基本元器件（如各种门电路、加法器、计数器等）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，按照“由底层元器件到中间电路模块，再到顶层系统”来逐步设计满足需要的电子系统。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缺点：“拼凑式”，效率低、易出错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63491" name="Rectangle 3"/>
          <p:cNvSpPr/>
          <p:nvPr/>
        </p:nvSpPr>
        <p:spPr>
          <a:xfrm>
            <a:off x="395288" y="692150"/>
            <a:ext cx="4105275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Bottom-up</a:t>
            </a:r>
            <a:r>
              <a:rPr lang="zh-CN" altLang="en-US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设计</a:t>
            </a:r>
            <a:endParaRPr lang="zh-CN" altLang="en-US" sz="44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773238"/>
            <a:ext cx="8785225" cy="3887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/>
          <p:nvPr/>
        </p:nvSpPr>
        <p:spPr>
          <a:xfrm>
            <a:off x="186405" y="1988840"/>
            <a:ext cx="8065020" cy="39333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Intellectual Property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）：原来是指知识产权、著作权。在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IC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设计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领域</a:t>
            </a:r>
            <a:r>
              <a:rPr lang="zh-CN" altLang="en-US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是指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实现某种功能的设计。</a:t>
            </a:r>
            <a:endParaRPr lang="zh-CN" altLang="en-US" b="1" dirty="0">
              <a:solidFill>
                <a:srgbClr val="333333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核（</a:t>
            </a: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模块）：指功能</a:t>
            </a:r>
            <a:r>
              <a:rPr lang="zh-CN" altLang="en-US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完整、性能指标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可靠，已验证的、可重用的电路功能模块。</a:t>
            </a:r>
            <a:endParaRPr lang="zh-CN" altLang="en-US" b="1" dirty="0">
              <a:solidFill>
                <a:srgbClr val="333333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复用（</a:t>
            </a: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 reuse</a:t>
            </a:r>
            <a:r>
              <a:rPr lang="zh-CN" altLang="en-US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）：在不同设计中，可以重复使用。</a:t>
            </a:r>
            <a:endParaRPr lang="zh-CN" altLang="en-US" b="1" dirty="0">
              <a:solidFill>
                <a:srgbClr val="333333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7587" name="Rectangle 3"/>
          <p:cNvSpPr/>
          <p:nvPr/>
        </p:nvSpPr>
        <p:spPr>
          <a:xfrm>
            <a:off x="160338" y="765175"/>
            <a:ext cx="44116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复用技术与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SoC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/>
          <p:nvPr/>
        </p:nvSpPr>
        <p:spPr>
          <a:xfrm>
            <a:off x="539750" y="1916113"/>
            <a:ext cx="80772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软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IP—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HDL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Verilog HDL or VHDL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）等硬件描述语言描述的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功能模块，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并不涉及用什么具体电路元件实现这些功能。 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9635" name="Text Box 3"/>
          <p:cNvSpPr txBox="1"/>
          <p:nvPr/>
        </p:nvSpPr>
        <p:spPr>
          <a:xfrm>
            <a:off x="539750" y="3792538"/>
            <a:ext cx="51974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IP—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完成了综合的功能块。 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9636" name="Text Box 4"/>
          <p:cNvSpPr txBox="1"/>
          <p:nvPr/>
        </p:nvSpPr>
        <p:spPr>
          <a:xfrm>
            <a:off x="539750" y="5013325"/>
            <a:ext cx="828040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硬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IP—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经过综合、布局布线、验证等过程，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能在设计中可靠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使用的功能模块。 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9637" name="Rectangle 5"/>
          <p:cNvSpPr/>
          <p:nvPr/>
        </p:nvSpPr>
        <p:spPr>
          <a:xfrm>
            <a:off x="234950" y="766763"/>
            <a:ext cx="43005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IP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核与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SoC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设计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/>
          <p:nvPr/>
        </p:nvSpPr>
        <p:spPr>
          <a:xfrm>
            <a:off x="1403350" y="4508500"/>
            <a:ext cx="46815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Dotum" panose="020B0600000101010101" pitchFamily="34" charset="-127"/>
              </a:rPr>
              <a:t>SoC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Dotum" panose="020B0600000101010101" pitchFamily="34" charset="-127"/>
              </a:rPr>
              <a:t>：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Dotum" panose="020B0600000101010101" pitchFamily="34" charset="-127"/>
              </a:rPr>
              <a:t>System on a Chip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ea typeface="Dotum" panose="020B0600000101010101" pitchFamily="34" charset="-127"/>
            </a:endParaRPr>
          </a:p>
        </p:txBody>
      </p:sp>
      <p:pic>
        <p:nvPicPr>
          <p:cNvPr id="71683" name="Picture 3" descr="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908050"/>
            <a:ext cx="9067800" cy="2882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7"/>
          <p:cNvSpPr/>
          <p:nvPr/>
        </p:nvSpPr>
        <p:spPr>
          <a:xfrm>
            <a:off x="0" y="441325"/>
            <a:ext cx="395288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en-US" altLang="zh-CN" sz="100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</a:rPr>
              <a:t>  </a:t>
            </a:r>
            <a:r>
              <a:rPr lang="en-US" altLang="zh-CN" sz="1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</a:rPr>
              <a:t>     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" y="1781175"/>
            <a:ext cx="4465638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 28"/>
          <p:cNvSpPr/>
          <p:nvPr/>
        </p:nvSpPr>
        <p:spPr>
          <a:xfrm>
            <a:off x="38100" y="5013325"/>
            <a:ext cx="9059863" cy="11636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>
              <a:lnSpc>
                <a:spcPct val="145000"/>
              </a:lnSpc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Win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系统的电脑（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PC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或笔记本）、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EDA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软件、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CPLD/FPGA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器件或含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CPLD/FPGA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器件的开发板、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USB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接口编程（下载）电缆。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038" y="1781175"/>
            <a:ext cx="1296987" cy="1431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25" y="1784350"/>
            <a:ext cx="2260600" cy="1360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038" y="3638550"/>
            <a:ext cx="1200150" cy="833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75" y="3513138"/>
            <a:ext cx="2486025" cy="126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7" name="Rectangle 2"/>
          <p:cNvSpPr/>
          <p:nvPr/>
        </p:nvSpPr>
        <p:spPr>
          <a:xfrm>
            <a:off x="395288" y="273050"/>
            <a:ext cx="87137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1.7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基于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EDA/FPGA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的数字系统设计流程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7"/>
          <p:cNvSpPr/>
          <p:nvPr/>
        </p:nvSpPr>
        <p:spPr>
          <a:xfrm>
            <a:off x="0" y="441325"/>
            <a:ext cx="395288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en-US" altLang="zh-CN" sz="100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</a:rPr>
              <a:t>  </a:t>
            </a:r>
            <a:r>
              <a:rPr lang="en-US" altLang="zh-CN" sz="1000" dirty="0">
                <a:solidFill>
                  <a:srgbClr val="000000"/>
                </a:solidFill>
                <a:latin typeface="Times New Roman" panose="02020603050405020304" pitchFamily="18" charset="0"/>
                <a:ea typeface="华康简宋"/>
              </a:rPr>
              <a:t>     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0900" name="组合 1"/>
          <p:cNvGrpSpPr/>
          <p:nvPr/>
        </p:nvGrpSpPr>
        <p:grpSpPr>
          <a:xfrm>
            <a:off x="1116013" y="1412875"/>
            <a:ext cx="6119812" cy="4854575"/>
            <a:chOff x="553530" y="1095015"/>
            <a:chExt cx="6480175" cy="5527215"/>
          </a:xfrm>
        </p:grpSpPr>
        <p:grpSp>
          <p:nvGrpSpPr>
            <p:cNvPr id="80901" name="Group 2"/>
            <p:cNvGrpSpPr/>
            <p:nvPr/>
          </p:nvGrpSpPr>
          <p:grpSpPr>
            <a:xfrm>
              <a:off x="553530" y="1095015"/>
              <a:ext cx="6480175" cy="5527215"/>
              <a:chOff x="4296" y="5579"/>
              <a:chExt cx="5708" cy="7093"/>
            </a:xfrm>
          </p:grpSpPr>
          <p:sp>
            <p:nvSpPr>
              <p:cNvPr id="80904" name="Rectangle 3"/>
              <p:cNvSpPr/>
              <p:nvPr/>
            </p:nvSpPr>
            <p:spPr>
              <a:xfrm>
                <a:off x="4320" y="5579"/>
                <a:ext cx="252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、设计定义与输入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05" name="Rectangle 4"/>
              <p:cNvSpPr/>
              <p:nvPr/>
            </p:nvSpPr>
            <p:spPr>
              <a:xfrm>
                <a:off x="4320" y="6660"/>
                <a:ext cx="2564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just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、功能仿真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06" name="Rectangle 5"/>
              <p:cNvSpPr/>
              <p:nvPr/>
            </p:nvSpPr>
            <p:spPr>
              <a:xfrm>
                <a:off x="4320" y="7680"/>
                <a:ext cx="252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just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、逻辑综合与优化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07" name="Rectangle 6"/>
              <p:cNvSpPr/>
              <p:nvPr/>
            </p:nvSpPr>
            <p:spPr>
              <a:xfrm>
                <a:off x="4320" y="8826"/>
                <a:ext cx="2594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just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、综合后仿真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08" name="Rectangle 7"/>
              <p:cNvSpPr/>
              <p:nvPr/>
            </p:nvSpPr>
            <p:spPr>
              <a:xfrm>
                <a:off x="4320" y="9939"/>
                <a:ext cx="2594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just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、适配（布局、布线等）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09" name="Rectangle 8"/>
              <p:cNvSpPr/>
              <p:nvPr/>
            </p:nvSpPr>
            <p:spPr>
              <a:xfrm>
                <a:off x="4320" y="11058"/>
                <a:ext cx="2608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just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、布线后仿真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0" name="Rectangle 9"/>
              <p:cNvSpPr/>
              <p:nvPr/>
            </p:nvSpPr>
            <p:spPr>
              <a:xfrm>
                <a:off x="4296" y="12204"/>
                <a:ext cx="2676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just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、下载（编程）、调试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1" name="Rectangle 10"/>
              <p:cNvSpPr/>
              <p:nvPr/>
            </p:nvSpPr>
            <p:spPr>
              <a:xfrm>
                <a:off x="7770" y="6630"/>
                <a:ext cx="216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ctr" eaLnBrk="1" hangingPunct="1"/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逻辑仿真器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2" name="Rectangle 11"/>
              <p:cNvSpPr/>
              <p:nvPr/>
            </p:nvSpPr>
            <p:spPr>
              <a:xfrm>
                <a:off x="7784" y="7728"/>
                <a:ext cx="216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ctr" eaLnBrk="1" hangingPunct="1"/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逻辑综合器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3" name="Rectangle 12"/>
              <p:cNvSpPr/>
              <p:nvPr/>
            </p:nvSpPr>
            <p:spPr>
              <a:xfrm>
                <a:off x="7814" y="9909"/>
                <a:ext cx="216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ctr" eaLnBrk="1" hangingPunct="1"/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CPLD/FPGA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厂家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4" name="Rectangle 13"/>
              <p:cNvSpPr/>
              <p:nvPr/>
            </p:nvSpPr>
            <p:spPr>
              <a:xfrm>
                <a:off x="7844" y="11028"/>
                <a:ext cx="216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ctr" eaLnBrk="1" hangingPunct="1"/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逻辑仿真器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5" name="Rectangle 14"/>
              <p:cNvSpPr/>
              <p:nvPr/>
            </p:nvSpPr>
            <p:spPr>
              <a:xfrm>
                <a:off x="7814" y="8796"/>
                <a:ext cx="2160" cy="46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>
                <a:flatTx/>
              </a:bodyPr>
              <a:lstStyle/>
              <a:p>
                <a:pPr algn="ctr" eaLnBrk="1" hangingPunct="1"/>
                <a:r>
                  <a:rPr lang="zh-CN" alt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逻辑仿真器</a:t>
                </a:r>
                <a:endPara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16" name="Line 15"/>
              <p:cNvSpPr/>
              <p:nvPr/>
            </p:nvSpPr>
            <p:spPr>
              <a:xfrm flipH="1">
                <a:off x="6957" y="6852"/>
                <a:ext cx="781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17" name="Line 16"/>
              <p:cNvSpPr/>
              <p:nvPr/>
            </p:nvSpPr>
            <p:spPr>
              <a:xfrm flipH="1">
                <a:off x="6981" y="7917"/>
                <a:ext cx="781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18" name="Line 17"/>
              <p:cNvSpPr/>
              <p:nvPr/>
            </p:nvSpPr>
            <p:spPr>
              <a:xfrm flipH="1">
                <a:off x="6969" y="9012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19" name="Line 18"/>
              <p:cNvSpPr/>
              <p:nvPr/>
            </p:nvSpPr>
            <p:spPr>
              <a:xfrm flipH="1">
                <a:off x="6945" y="10137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0" name="Line 19"/>
              <p:cNvSpPr/>
              <p:nvPr/>
            </p:nvSpPr>
            <p:spPr>
              <a:xfrm flipH="1">
                <a:off x="6981" y="11232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1" name="Line 20"/>
              <p:cNvSpPr/>
              <p:nvPr/>
            </p:nvSpPr>
            <p:spPr>
              <a:xfrm>
                <a:off x="5850" y="6042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2" name="Line 21"/>
              <p:cNvSpPr/>
              <p:nvPr/>
            </p:nvSpPr>
            <p:spPr>
              <a:xfrm>
                <a:off x="5850" y="7134"/>
                <a:ext cx="0" cy="52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3" name="Line 22"/>
              <p:cNvSpPr/>
              <p:nvPr/>
            </p:nvSpPr>
            <p:spPr>
              <a:xfrm>
                <a:off x="5850" y="8238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4" name="Line 23"/>
              <p:cNvSpPr/>
              <p:nvPr/>
            </p:nvSpPr>
            <p:spPr>
              <a:xfrm>
                <a:off x="5850" y="9288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5" name="Line 24"/>
              <p:cNvSpPr/>
              <p:nvPr/>
            </p:nvSpPr>
            <p:spPr>
              <a:xfrm>
                <a:off x="5866" y="10413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26" name="Line 25"/>
              <p:cNvSpPr/>
              <p:nvPr/>
            </p:nvSpPr>
            <p:spPr>
              <a:xfrm>
                <a:off x="5866" y="11553"/>
                <a:ext cx="0" cy="54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80902" name="Rectangle 10"/>
            <p:cNvSpPr/>
            <p:nvPr/>
          </p:nvSpPr>
          <p:spPr>
            <a:xfrm>
              <a:off x="4519366" y="1095015"/>
              <a:ext cx="2452204" cy="364689"/>
            </a:xfrm>
            <a:prstGeom prst="rect">
              <a:avLst/>
            </a:prstGeom>
            <a:solidFill>
              <a:srgbClr val="FFFFFF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FF"/>
              </a:extrusionClr>
            </a:sp3d>
          </p:spPr>
          <p:txBody>
            <a:bodyPr>
              <a:flatTx/>
            </a:bodyPr>
            <a:lstStyle/>
            <a:p>
              <a:pPr algn="ctr" eaLnBrk="1" hangingPunct="1"/>
              <a:r>
                <a:rPr lang="zh-CN" alt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原理图或文本编辑器</a:t>
              </a:r>
              <a:endPara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903" name="Line 15"/>
            <p:cNvSpPr/>
            <p:nvPr/>
          </p:nvSpPr>
          <p:spPr>
            <a:xfrm flipH="1">
              <a:off x="3532426" y="1277359"/>
              <a:ext cx="88665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1" name="Rectangle 2"/>
          <p:cNvSpPr/>
          <p:nvPr/>
        </p:nvSpPr>
        <p:spPr>
          <a:xfrm>
            <a:off x="395288" y="273050"/>
            <a:ext cx="87137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1.7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基于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EDA/FPGA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的数字系统设计流程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/>
          <p:nvPr/>
        </p:nvSpPr>
        <p:spPr>
          <a:xfrm>
            <a:off x="34925" y="476250"/>
            <a:ext cx="8929688" cy="5816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、设计描述与输入：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是根据电子工程师的设计思路和设计方法，将所设计的电路功能，按照不同描述方式，输入到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EDA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软件。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常用的输入方式有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原理图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和硬件描述语言（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原理图（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Schematic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）输入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根据设计要求，选用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元器件库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中的电路元器件符号，绘制电路原理图，完成输入过程。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优点：在小型设计中，元器件及连接直观、便于理解。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缺点：在大型设计中，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无法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直接看出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电路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功能；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可维护性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可移植性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较差，不利于模块建立与重用；当所选用芯片升级换代后，所有的原理图都要作相应改动或者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重新绘制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/>
          <p:nvPr/>
        </p:nvSpPr>
        <p:spPr>
          <a:xfrm>
            <a:off x="0" y="1340768"/>
            <a:ext cx="8928992" cy="45243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大型工程设计最常用的方法是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Hardware Description Language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，硬件描述语言）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输入方式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其中影响最为广泛的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VHDL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Verilog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SystemVerilog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都是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IEEE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标准。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特点：有利于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自顶向下（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Top-Down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设计；有利于模块的划分与复用；总体功能及各模块功能可描述和仿真分析清楚；可移植性好；通用性好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，功能不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因芯片的工艺与结构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改变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而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变化。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title" idx="4294967295"/>
          </p:nvPr>
        </p:nvSpPr>
        <p:spPr>
          <a:xfrm>
            <a:off x="227013" y="331788"/>
            <a:ext cx="8688387" cy="601662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Examples of design entry of an AND gate(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HDL</a:t>
            </a:r>
            <a:r>
              <a:rPr lang="en-US" altLang="zh-CN" sz="2800" dirty="0">
                <a:ea typeface="宋体" panose="02010600030101010101" pitchFamily="2" charset="-122"/>
              </a:rPr>
              <a:t> or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Schematic</a:t>
            </a:r>
            <a:r>
              <a:rPr lang="en-US" altLang="zh-CN" sz="2800" dirty="0">
                <a:ea typeface="宋体" panose="02010600030101010101" pitchFamily="2" charset="-122"/>
              </a:rPr>
              <a:t>).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pic>
        <p:nvPicPr>
          <p:cNvPr id="83971" name="Picture 3" descr="AAGIGNC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313" y="1871663"/>
            <a:ext cx="8459787" cy="3113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/>
          <p:nvPr/>
        </p:nvSpPr>
        <p:spPr>
          <a:xfrm>
            <a:off x="251520" y="332656"/>
            <a:ext cx="8713788" cy="52629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2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功能仿真（行为级仿真）：</a:t>
            </a:r>
            <a:endParaRPr lang="en-US" altLang="zh-CN" sz="2800" dirty="0" smtClean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电路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设计与输入完成后，要用专用的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逻辑仿真软件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对设计进行功能仿真，验证电路功能是否符合设计的逻辑功能要求。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通过功能仿真，能及时发现逻辑设计中的功能错误。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注意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：功能仿真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不考虑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器件和连线的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实际时间延迟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，不能发现电路中可能存在的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时序不匹配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问题。     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/>
          <p:nvPr/>
        </p:nvSpPr>
        <p:spPr>
          <a:xfrm>
            <a:off x="107950" y="404813"/>
            <a:ext cx="8523288" cy="5675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3.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逻辑综合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逻辑综合（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Synthesize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）是根据设计目标与要求，采用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逻辑综合软件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，将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HDL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描述的电路设计，“转换”为由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与、或、非等逻辑门、触发器等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基本逻辑单元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所组成的逻辑连接（网表），供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CPLD/FPGA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厂家的布局布线器进行实现。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综合过程就是将较高（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抽象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的）层次的设计描述，自动转化为较低层次（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具体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的）逻辑单元及其连接网表的过程。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可见：逻辑综合器的功能，就是将设计描述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与基本逻辑单元硬件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结构用某种网表文件的方式联系起来。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综合器是设计描述与硬件实现的一座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桥梁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       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AutoShape 2"/>
          <p:cNvSpPr/>
          <p:nvPr/>
        </p:nvSpPr>
        <p:spPr>
          <a:xfrm>
            <a:off x="5791200" y="1828800"/>
            <a:ext cx="2979738" cy="1143000"/>
          </a:xfrm>
          <a:prstGeom prst="flowChartProcess">
            <a:avLst/>
          </a:prstGeom>
          <a:solidFill>
            <a:srgbClr val="CCFF33"/>
          </a:solidFill>
          <a:ln w="9525">
            <a:noFill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7" name="AutoShape 3"/>
          <p:cNvSpPr/>
          <p:nvPr/>
        </p:nvSpPr>
        <p:spPr>
          <a:xfrm>
            <a:off x="2743200" y="1981200"/>
            <a:ext cx="2235200" cy="838200"/>
          </a:xfrm>
          <a:prstGeom prst="flowChartAlternateProcess">
            <a:avLst/>
          </a:prstGeom>
          <a:solidFill>
            <a:srgbClr val="FFCCFF"/>
          </a:solidFill>
          <a:ln w="9525">
            <a:noFill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8" name="AutoShape 4"/>
          <p:cNvSpPr/>
          <p:nvPr/>
        </p:nvSpPr>
        <p:spPr>
          <a:xfrm>
            <a:off x="35496" y="1981200"/>
            <a:ext cx="1834579" cy="914400"/>
          </a:xfrm>
          <a:prstGeom prst="flowChartAlternateProcess">
            <a:avLst/>
          </a:prstGeom>
          <a:solidFill>
            <a:srgbClr val="FFFFFF"/>
          </a:solidFill>
          <a:ln w="9525">
            <a:noFill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ASM...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程序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69" name="Line 5"/>
          <p:cNvSpPr/>
          <p:nvPr/>
        </p:nvSpPr>
        <p:spPr>
          <a:xfrm>
            <a:off x="5029200" y="243840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70" name="Text Box 6"/>
          <p:cNvSpPr txBox="1"/>
          <p:nvPr/>
        </p:nvSpPr>
        <p:spPr>
          <a:xfrm>
            <a:off x="5867400" y="2001838"/>
            <a:ext cx="3040063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指令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数据代码：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010010 100010 1100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1" name="Line 7"/>
          <p:cNvSpPr/>
          <p:nvPr/>
        </p:nvSpPr>
        <p:spPr>
          <a:xfrm flipH="1">
            <a:off x="1905000" y="2514600"/>
            <a:ext cx="677863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88072" name="Text Box 8"/>
          <p:cNvSpPr txBox="1"/>
          <p:nvPr/>
        </p:nvSpPr>
        <p:spPr>
          <a:xfrm>
            <a:off x="2819400" y="1981200"/>
            <a:ext cx="2168525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软件程序编译器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COMPILER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3" name="Text Box 9"/>
          <p:cNvSpPr txBox="1"/>
          <p:nvPr/>
        </p:nvSpPr>
        <p:spPr>
          <a:xfrm>
            <a:off x="228600" y="258763"/>
            <a:ext cx="76993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软件编译器和硬件综合器区别</a:t>
            </a:r>
            <a:endParaRPr lang="zh-CN" altLang="en-US" sz="40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88074" name="AutoShape 10"/>
          <p:cNvSpPr/>
          <p:nvPr/>
        </p:nvSpPr>
        <p:spPr>
          <a:xfrm>
            <a:off x="5867400" y="3276600"/>
            <a:ext cx="2979738" cy="2743200"/>
          </a:xfrm>
          <a:prstGeom prst="flowChartProcess">
            <a:avLst/>
          </a:prstGeom>
          <a:solidFill>
            <a:srgbClr val="CCFF33"/>
          </a:solidFill>
          <a:ln w="9525">
            <a:noFill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75" name="AutoShape 11"/>
          <p:cNvSpPr/>
          <p:nvPr/>
        </p:nvSpPr>
        <p:spPr>
          <a:xfrm>
            <a:off x="2743200" y="3962400"/>
            <a:ext cx="2235200" cy="1219200"/>
          </a:xfrm>
          <a:prstGeom prst="flowChartAlternateProcess">
            <a:avLst/>
          </a:prstGeom>
          <a:solidFill>
            <a:srgbClr val="FFCCFF"/>
          </a:solidFill>
          <a:ln w="9525">
            <a:noFill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76" name="AutoShape 12"/>
          <p:cNvSpPr/>
          <p:nvPr/>
        </p:nvSpPr>
        <p:spPr>
          <a:xfrm>
            <a:off x="35496" y="4191000"/>
            <a:ext cx="2156842" cy="838200"/>
          </a:xfrm>
          <a:prstGeom prst="flowChartAlternateProcess">
            <a:avLst/>
          </a:prstGeom>
          <a:solidFill>
            <a:srgbClr val="FFFFFF"/>
          </a:solidFill>
          <a:ln w="9525">
            <a:noFill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ctr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VHDL/Verilog HDL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代码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7" name="Line 13"/>
          <p:cNvSpPr/>
          <p:nvPr/>
        </p:nvSpPr>
        <p:spPr>
          <a:xfrm>
            <a:off x="5181600" y="4572000"/>
            <a:ext cx="609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78" name="Line 14"/>
          <p:cNvSpPr/>
          <p:nvPr/>
        </p:nvSpPr>
        <p:spPr>
          <a:xfrm flipH="1">
            <a:off x="2209800" y="4572000"/>
            <a:ext cx="541338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88079" name="Text Box 15"/>
          <p:cNvSpPr txBox="1"/>
          <p:nvPr/>
        </p:nvSpPr>
        <p:spPr>
          <a:xfrm>
            <a:off x="2560638" y="3983038"/>
            <a:ext cx="2501900" cy="1138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硬件描述语言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逻辑综合器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SYNTHESIZER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8080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3429000"/>
            <a:ext cx="2074863" cy="149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81" name="Text Box 17"/>
          <p:cNvSpPr txBox="1"/>
          <p:nvPr/>
        </p:nvSpPr>
        <p:spPr>
          <a:xfrm>
            <a:off x="6172200" y="4973638"/>
            <a:ext cx="27527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ASIC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设计提供的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电路网表文件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82" name="Text Box 18"/>
          <p:cNvSpPr txBox="1"/>
          <p:nvPr/>
        </p:nvSpPr>
        <p:spPr>
          <a:xfrm>
            <a:off x="1187624" y="3276600"/>
            <a:ext cx="4298776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软件编程语言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设计目标流程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83" name="Text Box 19"/>
          <p:cNvSpPr txBox="1"/>
          <p:nvPr/>
        </p:nvSpPr>
        <p:spPr>
          <a:xfrm>
            <a:off x="1475656" y="5410200"/>
            <a:ext cx="4163144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硬件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描述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语言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设计目标流程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28788" y="548680"/>
            <a:ext cx="9009509" cy="604864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4</a:t>
            </a: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、综合后仿真（</a:t>
            </a:r>
            <a:r>
              <a:rPr kumimoji="0" lang="en-US" altLang="zh-CN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RTL</a:t>
            </a: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级仿真）：</a:t>
            </a:r>
            <a:endParaRPr kumimoji="0" lang="zh-CN" altLang="en-US" sz="3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                综合完成后，需要检查综合结果是否与原设计一致，要做综合后仿真。在仿真时，把综合生成的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基本单元器件（如：逻辑门）延时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文件反标到综合仿真模型中去，可估计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器件延时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带来的影响。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楷体" panose="02010600040101010101" pitchFamily="2" charset="-122"/>
              <a:cs typeface="+mn-cs"/>
            </a:endParaRPr>
          </a:p>
          <a:p>
            <a:pPr lvl="0" eaLnBrk="1" hangingPunct="1">
              <a:lnSpc>
                <a:spcPct val="150000"/>
              </a:lnSpc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           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综合后仿真虽然比功能仿真精确一些，但是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只能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估计基本单元器件（如：逻辑门）延时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，而不能估计线延时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，仿真结果与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布线后的实际情况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还有一定的差距，并不十分准确。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楷体" panose="02010600040101010101" pitchFamily="2" charset="-122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            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楷体" panose="02010600040101010101" pitchFamily="2" charset="-122"/>
                <a:cs typeface="+mn-cs"/>
              </a:rPr>
              <a:t>这种仿真的主要目的，在于检查综合器的综合结果是否与设计一致。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/>
          <p:nvPr/>
        </p:nvSpPr>
        <p:spPr>
          <a:xfrm>
            <a:off x="338138" y="404813"/>
            <a:ext cx="8839200" cy="51706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、目标器件的适配（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Fit Design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）（或实现）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逻辑综合通过后，必须利用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适配器（布局布线工具）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将由综合器产生的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网表文件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配置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到（选择）指定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目标器件芯片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中，产生最终的下载数据文件，如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JEDEC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JED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）格式的文件。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适配过程一般分为：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翻译、映射、布局布线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等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个步骤。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通常，适配器需由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FPGA/CPLD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供应商提供，因为适配器的适配对象直接与具体的器件芯片结构相对应，只有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CPLD/FPGA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器件生产商最了解器件的内部结构。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idx="1"/>
          </p:nvPr>
        </p:nvSpPr>
        <p:spPr>
          <a:xfrm>
            <a:off x="214313" y="404813"/>
            <a:ext cx="8678862" cy="4954587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</a:rPr>
              <a:t>6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、布线后仿真（时序</a:t>
            </a:r>
            <a:r>
              <a:rPr lang="zh-CN" altLang="en-US" sz="28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仿真、门级仿真）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：</a:t>
            </a:r>
            <a:endParaRPr lang="en-US" altLang="zh-CN" sz="28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</a:rPr>
              <a:t>         </a:t>
            </a:r>
            <a:r>
              <a:rPr lang="zh-CN" altLang="en-US" sz="2400" dirty="0">
                <a:ea typeface="华文楷体" panose="02010600040101010101" pitchFamily="2" charset="-122"/>
              </a:rPr>
              <a:t>布局布线完成之后，应该做布线后仿真（时序仿真）。时序仿真时，会将布线的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时延文件</a:t>
            </a:r>
            <a:r>
              <a:rPr lang="zh-CN" altLang="en-US" sz="2400" dirty="0">
                <a:ea typeface="华文楷体" panose="02010600040101010101" pitchFamily="2" charset="-122"/>
              </a:rPr>
              <a:t>反标到设计中，时序仿真既包含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逻辑</a:t>
            </a:r>
            <a:r>
              <a:rPr lang="zh-CN" altLang="en-US" sz="24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单元（门）延时</a:t>
            </a:r>
            <a:r>
              <a:rPr lang="zh-CN" altLang="en-US" sz="2400" dirty="0">
                <a:ea typeface="华文楷体" panose="02010600040101010101" pitchFamily="2" charset="-122"/>
              </a:rPr>
              <a:t>，又包含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线延时</a:t>
            </a:r>
            <a:r>
              <a:rPr lang="zh-CN" altLang="en-US" sz="2400" dirty="0">
                <a:ea typeface="华文楷体" panose="02010600040101010101" pitchFamily="2" charset="-122"/>
              </a:rPr>
              <a:t>信息。</a:t>
            </a:r>
            <a:endParaRPr lang="en-US" altLang="zh-CN" sz="2400" dirty="0"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    </a:t>
            </a:r>
            <a:r>
              <a:rPr lang="zh-CN" altLang="en-US" sz="2400" dirty="0">
                <a:ea typeface="华文楷体" panose="02010600040101010101" pitchFamily="2" charset="-122"/>
              </a:rPr>
              <a:t>与前面的功能仿真相比，时序仿真包含的延时信息比较全面、准确，能较好地反映芯片的信号时序情况。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/>
          <p:nvPr/>
        </p:nvSpPr>
        <p:spPr>
          <a:xfrm>
            <a:off x="179388" y="331788"/>
            <a:ext cx="8785225" cy="541686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下载（编程、烧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写、配置）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和在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系统硬件调试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如果功能仿真、逻辑综合、时序仿真、布局布线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适配、布线后（时序）仿真等过程都没有问题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，满足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原设计的要求，则可以将最终的配置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下载文件，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通过接口电路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下载（烧写、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编程、配置，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download/configure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目标芯片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FPGA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CPLD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中，然后将电路板中的芯片上电，进行实际电路的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运行调试和测试。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ct val="1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注意：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以上每个步骤如果出现问题，就需要根据错误的定位信息，返回到相应的步骤修改或者重新设计。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990600"/>
            <a:ext cx="4660900" cy="3059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21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25" y="990600"/>
            <a:ext cx="3887788" cy="3040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21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4318000"/>
            <a:ext cx="7762875" cy="2520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/>
          <p:nvPr/>
        </p:nvSpPr>
        <p:spPr>
          <a:xfrm>
            <a:off x="-36830" y="2637155"/>
            <a:ext cx="9042400" cy="31921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1.1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谈谈自己对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技术的认识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1.2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现代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技术的特点有哪些？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1.3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简述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Top-down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Bottom-up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两种设计方法及优缺点。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1.4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基于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EDA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FPGA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的数字系统设计流程包括哪些步骤？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1.5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功能仿真、综合仿真与时序仿真有什么区别？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1.6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硬件描述语言与软件编程语言的本质区别？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1379" name="Rectangle 3"/>
          <p:cNvSpPr/>
          <p:nvPr/>
        </p:nvSpPr>
        <p:spPr>
          <a:xfrm>
            <a:off x="35560" y="332740"/>
            <a:ext cx="8960485" cy="155956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eaLnBrk="1" hangingPunct="1"/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思考题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10-1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32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   结合</a:t>
            </a:r>
            <a:r>
              <a:rPr lang="en-US" altLang="zh-CN" sz="32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AI</a:t>
            </a:r>
            <a:r>
              <a:rPr lang="zh-CN" altLang="en-US" sz="32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学伴，思考、总结和梳理如下问题：</a:t>
            </a:r>
            <a:endParaRPr lang="zh-CN" altLang="en-US" sz="3200" b="1" dirty="0" smtClean="0">
              <a:solidFill>
                <a:schemeClr val="accent2"/>
              </a:solidFill>
              <a:ea typeface="华文中宋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f54d9005-9777-4472-a70c-d54787e06b60"/>
  <p:tag name="COMMONDATA" val="eyJoZGlkIjoiYzJkYWVhODUwMDNjNDQ1ZDEyYjlmNjFlYTJmZTE5ZmQ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0099"/>
      </a:hlink>
      <a:folHlink>
        <a:srgbClr val="FF00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Arial Narrow"/>
        <a:ea typeface="楷体_GB2312"/>
        <a:cs typeface=""/>
      </a:majorFont>
      <a:minorFont>
        <a:latin typeface="Arial Narrow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5585</Words>
  <Application>WPS 演示</Application>
  <PresentationFormat>全屏显示(4:3)</PresentationFormat>
  <Paragraphs>221</Paragraphs>
  <Slides>33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Arial Narrow</vt:lpstr>
      <vt:lpstr>楷体_GB2312</vt:lpstr>
      <vt:lpstr>Verdana</vt:lpstr>
      <vt:lpstr>华文中宋</vt:lpstr>
      <vt:lpstr>华文楷体</vt:lpstr>
      <vt:lpstr>微软雅黑</vt:lpstr>
      <vt:lpstr>Arial Unicode MS</vt:lpstr>
      <vt:lpstr>Dotum</vt:lpstr>
      <vt:lpstr>华康简宋</vt:lpstr>
      <vt:lpstr>Wingdings</vt:lpstr>
      <vt:lpstr>华康简宋</vt:lpstr>
      <vt:lpstr>兰米雅宋</vt:lpstr>
      <vt:lpstr>默认设计模板</vt:lpstr>
      <vt:lpstr>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EDA技术的优势：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Examples of design entry of an AND gate(HDL or Schematic).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西安火炬电脑公司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于云华</dc:creator>
  <cp:lastModifiedBy>于云华</cp:lastModifiedBy>
  <cp:revision>263</cp:revision>
  <dcterms:created xsi:type="dcterms:W3CDTF">2004-02-13T00:18:00Z</dcterms:created>
  <dcterms:modified xsi:type="dcterms:W3CDTF">2026-03-06T01:22:43Z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8528ABF7574F49B88C369A7D25BD2A54</vt:lpwstr>
  </property>
  <property fmtid="{D5CDD505-2E9C-101B-9397-08002B2CF9AE}" pid="3" name="KSOProductBuildVer">
    <vt:lpwstr>2052-12.1.0.25222</vt:lpwstr>
  </property>
</Properties>
</file>